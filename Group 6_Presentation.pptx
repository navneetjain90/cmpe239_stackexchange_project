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8" r:id="rId5"/>
    <p:sldId id="259" r:id="rId6"/>
    <p:sldId id="264" r:id="rId7"/>
    <p:sldId id="268" r:id="rId8"/>
    <p:sldId id="263" r:id="rId9"/>
    <p:sldId id="265" r:id="rId10"/>
    <p:sldId id="262" r:id="rId11"/>
    <p:sldId id="267" r:id="rId12"/>
    <p:sldId id="266" r:id="rId13"/>
    <p:sldId id="26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8"/>
  </p:normalViewPr>
  <p:slideViewPr>
    <p:cSldViewPr snapToGrid="0" snapToObjects="1">
      <p:cViewPr varScale="1">
        <p:scale>
          <a:sx n="90" d="100"/>
          <a:sy n="90" d="100"/>
        </p:scale>
        <p:origin x="232" y="8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5/9/17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5/9/17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5/9/17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5/9/17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5/9/17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5/9/17</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5/9/17</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5/9/17</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5/9/17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5/9/17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5/9/17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5/9/17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5/9/17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5/9/17</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5/9/17</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5/9/17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5/9/17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image" Target="../media/image3.png"/><Relationship Id="rId21" Type="http://schemas.openxmlformats.org/officeDocument/2006/relationships/image" Target="../media/image4.png"/><Relationship Id="rId22" Type="http://schemas.openxmlformats.org/officeDocument/2006/relationships/image" Target="../media/image5.png"/><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5/9/17</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kaggle.com/c/transfer-learning-on-stack-exchange-tag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5019" y="1222169"/>
            <a:ext cx="10949049" cy="784761"/>
          </a:xfrm>
        </p:spPr>
        <p:txBody>
          <a:bodyPr/>
          <a:lstStyle/>
          <a:p>
            <a:r>
              <a:rPr lang="en-US" sz="3600" b="1" dirty="0"/>
              <a:t>Prediction of tags for Stack Exchange Questions</a:t>
            </a:r>
            <a:endParaRPr lang="en-US" sz="3600" b="1" dirty="0"/>
          </a:p>
        </p:txBody>
      </p:sp>
      <p:sp>
        <p:nvSpPr>
          <p:cNvPr id="3" name="Subtitle 2"/>
          <p:cNvSpPr>
            <a:spLocks noGrp="1"/>
          </p:cNvSpPr>
          <p:nvPr>
            <p:ph type="subTitle" idx="1"/>
          </p:nvPr>
        </p:nvSpPr>
        <p:spPr>
          <a:xfrm>
            <a:off x="1154955" y="2885704"/>
            <a:ext cx="8825658" cy="2753096"/>
          </a:xfrm>
        </p:spPr>
        <p:txBody>
          <a:bodyPr/>
          <a:lstStyle/>
          <a:p>
            <a:pPr algn="ctr"/>
            <a:r>
              <a:rPr lang="en-US" dirty="0">
                <a:solidFill>
                  <a:schemeClr val="tx1"/>
                </a:solidFill>
              </a:rPr>
              <a:t>A Multi Label Classification </a:t>
            </a:r>
            <a:r>
              <a:rPr lang="en-US" dirty="0" smtClean="0">
                <a:solidFill>
                  <a:schemeClr val="tx1"/>
                </a:solidFill>
              </a:rPr>
              <a:t>Problem</a:t>
            </a:r>
          </a:p>
          <a:p>
            <a:pPr algn="ctr"/>
            <a:endParaRPr lang="en-US" dirty="0">
              <a:solidFill>
                <a:schemeClr val="tx1"/>
              </a:solidFill>
            </a:endParaRPr>
          </a:p>
          <a:p>
            <a:pPr algn="r"/>
            <a:r>
              <a:rPr lang="en-US" dirty="0" err="1" smtClean="0">
                <a:solidFill>
                  <a:schemeClr val="tx1"/>
                </a:solidFill>
              </a:rPr>
              <a:t>Anudeep</a:t>
            </a:r>
            <a:r>
              <a:rPr lang="en-US" dirty="0" smtClean="0">
                <a:solidFill>
                  <a:schemeClr val="tx1"/>
                </a:solidFill>
              </a:rPr>
              <a:t> </a:t>
            </a:r>
            <a:r>
              <a:rPr lang="en-US" dirty="0" err="1" smtClean="0">
                <a:solidFill>
                  <a:schemeClr val="tx1"/>
                </a:solidFill>
              </a:rPr>
              <a:t>Rentala</a:t>
            </a:r>
            <a:r>
              <a:rPr lang="en-US" dirty="0" smtClean="0">
                <a:solidFill>
                  <a:schemeClr val="tx1"/>
                </a:solidFill>
              </a:rPr>
              <a:t> </a:t>
            </a:r>
            <a:r>
              <a:rPr lang="mr-IN" dirty="0" smtClean="0">
                <a:solidFill>
                  <a:schemeClr val="tx1"/>
                </a:solidFill>
              </a:rPr>
              <a:t>–</a:t>
            </a:r>
            <a:r>
              <a:rPr lang="en-US" dirty="0" smtClean="0">
                <a:solidFill>
                  <a:schemeClr val="tx1"/>
                </a:solidFill>
              </a:rPr>
              <a:t> o11417666</a:t>
            </a:r>
          </a:p>
          <a:p>
            <a:pPr algn="r"/>
            <a:r>
              <a:rPr lang="en-US" dirty="0" err="1" smtClean="0">
                <a:solidFill>
                  <a:schemeClr val="tx1"/>
                </a:solidFill>
              </a:rPr>
              <a:t>Jayam</a:t>
            </a:r>
            <a:r>
              <a:rPr lang="en-US" dirty="0" smtClean="0">
                <a:solidFill>
                  <a:schemeClr val="tx1"/>
                </a:solidFill>
              </a:rPr>
              <a:t> </a:t>
            </a:r>
            <a:r>
              <a:rPr lang="en-US" dirty="0" err="1" smtClean="0">
                <a:solidFill>
                  <a:schemeClr val="tx1"/>
                </a:solidFill>
              </a:rPr>
              <a:t>Malviya</a:t>
            </a:r>
            <a:r>
              <a:rPr lang="en-US" dirty="0" smtClean="0">
                <a:solidFill>
                  <a:schemeClr val="tx1"/>
                </a:solidFill>
              </a:rPr>
              <a:t> </a:t>
            </a:r>
            <a:r>
              <a:rPr lang="mr-IN" dirty="0" smtClean="0">
                <a:solidFill>
                  <a:schemeClr val="tx1"/>
                </a:solidFill>
              </a:rPr>
              <a:t>–</a:t>
            </a:r>
            <a:r>
              <a:rPr lang="en-US" dirty="0" smtClean="0">
                <a:solidFill>
                  <a:schemeClr val="tx1"/>
                </a:solidFill>
              </a:rPr>
              <a:t> 011435567</a:t>
            </a:r>
          </a:p>
          <a:p>
            <a:pPr algn="r"/>
            <a:r>
              <a:rPr lang="en-US" dirty="0" err="1" smtClean="0">
                <a:solidFill>
                  <a:schemeClr val="tx1"/>
                </a:solidFill>
              </a:rPr>
              <a:t>Navneet</a:t>
            </a:r>
            <a:r>
              <a:rPr lang="en-US" dirty="0" smtClean="0">
                <a:solidFill>
                  <a:schemeClr val="tx1"/>
                </a:solidFill>
              </a:rPr>
              <a:t> </a:t>
            </a:r>
            <a:r>
              <a:rPr lang="en-US" dirty="0" err="1" smtClean="0">
                <a:solidFill>
                  <a:schemeClr val="tx1"/>
                </a:solidFill>
              </a:rPr>
              <a:t>jain</a:t>
            </a:r>
            <a:r>
              <a:rPr lang="en-US" dirty="0" smtClean="0">
                <a:solidFill>
                  <a:schemeClr val="tx1"/>
                </a:solidFill>
              </a:rPr>
              <a:t> </a:t>
            </a:r>
            <a:r>
              <a:rPr lang="mr-IN" dirty="0" smtClean="0">
                <a:solidFill>
                  <a:schemeClr val="tx1"/>
                </a:solidFill>
              </a:rPr>
              <a:t>–</a:t>
            </a:r>
            <a:r>
              <a:rPr lang="en-US" dirty="0" smtClean="0">
                <a:solidFill>
                  <a:schemeClr val="tx1"/>
                </a:solidFill>
              </a:rPr>
              <a:t> 011419291</a:t>
            </a:r>
          </a:p>
          <a:p>
            <a:pPr algn="r"/>
            <a:endParaRPr lang="en-US" dirty="0">
              <a:solidFill>
                <a:schemeClr val="tx1"/>
              </a:solidFill>
            </a:endParaRPr>
          </a:p>
        </p:txBody>
      </p:sp>
    </p:spTree>
    <p:extLst>
      <p:ext uri="{BB962C8B-B14F-4D97-AF65-F5344CB8AC3E}">
        <p14:creationId xmlns:p14="http://schemas.microsoft.com/office/powerpoint/2010/main" val="722708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Problem Statement</a:t>
            </a:r>
            <a:endParaRPr lang="en-US" dirty="0"/>
          </a:p>
        </p:txBody>
      </p:sp>
      <p:sp>
        <p:nvSpPr>
          <p:cNvPr id="3" name="Content Placeholder 2"/>
          <p:cNvSpPr>
            <a:spLocks noGrp="1"/>
          </p:cNvSpPr>
          <p:nvPr>
            <p:ph idx="1"/>
          </p:nvPr>
        </p:nvSpPr>
        <p:spPr/>
        <p:txBody>
          <a:bodyPr/>
          <a:lstStyle/>
          <a:p>
            <a:r>
              <a:rPr lang="en-US" dirty="0"/>
              <a:t>In this problem, we are provided the titles, text, and tags of Stack Exchange questions from six different sites. We have challenged ourselves for tag predictions on untagged questions. The given Data set contains data in six different csv files from different categories namely biology, cooking, crypto, </a:t>
            </a:r>
            <a:r>
              <a:rPr lang="en-US" dirty="0" err="1"/>
              <a:t>diy</a:t>
            </a:r>
            <a:r>
              <a:rPr lang="en-US" dirty="0"/>
              <a:t>, robotics and travel. And a test data csv file. The data format for each document is </a:t>
            </a:r>
            <a:r>
              <a:rPr lang="en-US" dirty="0" err="1"/>
              <a:t>Title,Text</a:t>
            </a:r>
            <a:r>
              <a:rPr lang="en-US" dirty="0"/>
              <a:t> and Tags. For test data, we are given only Title and Text, no tags.</a:t>
            </a:r>
            <a:endParaRPr lang="en-US" dirty="0"/>
          </a:p>
        </p:txBody>
      </p:sp>
    </p:spTree>
    <p:extLst>
      <p:ext uri="{BB962C8B-B14F-4D97-AF65-F5344CB8AC3E}">
        <p14:creationId xmlns:p14="http://schemas.microsoft.com/office/powerpoint/2010/main" val="194212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Data Size</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37018341"/>
              </p:ext>
            </p:extLst>
          </p:nvPr>
        </p:nvGraphicFramePr>
        <p:xfrm>
          <a:off x="1103313" y="2052636"/>
          <a:ext cx="8947149" cy="2740080"/>
        </p:xfrm>
        <a:graphic>
          <a:graphicData uri="http://schemas.openxmlformats.org/drawingml/2006/table">
            <a:tbl>
              <a:tblPr firstRow="1" bandRow="1">
                <a:tableStyleId>{5C22544A-7EE6-4342-B048-85BDC9FD1C3A}</a:tableStyleId>
              </a:tblPr>
              <a:tblGrid>
                <a:gridCol w="2982383"/>
                <a:gridCol w="2982383"/>
                <a:gridCol w="2982383"/>
              </a:tblGrid>
              <a:tr h="685020">
                <a:tc>
                  <a:txBody>
                    <a:bodyPr/>
                    <a:lstStyle/>
                    <a:p>
                      <a:endParaRPr lang="en-US" dirty="0"/>
                    </a:p>
                  </a:txBody>
                  <a:tcPr/>
                </a:tc>
                <a:tc>
                  <a:txBody>
                    <a:bodyPr/>
                    <a:lstStyle/>
                    <a:p>
                      <a:pPr algn="ctr"/>
                      <a:r>
                        <a:rPr lang="en-US" dirty="0" smtClean="0"/>
                        <a:t>Train Data</a:t>
                      </a:r>
                      <a:endParaRPr lang="en-US" dirty="0"/>
                    </a:p>
                  </a:txBody>
                  <a:tcPr/>
                </a:tc>
                <a:tc>
                  <a:txBody>
                    <a:bodyPr/>
                    <a:lstStyle/>
                    <a:p>
                      <a:pPr algn="ctr"/>
                      <a:r>
                        <a:rPr lang="en-US" dirty="0" smtClean="0"/>
                        <a:t>Test Data</a:t>
                      </a:r>
                      <a:endParaRPr lang="en-US" dirty="0"/>
                    </a:p>
                  </a:txBody>
                  <a:tcPr/>
                </a:tc>
              </a:tr>
              <a:tr h="685020">
                <a:tc>
                  <a:txBody>
                    <a:bodyPr/>
                    <a:lstStyle/>
                    <a:p>
                      <a:r>
                        <a:rPr lang="en-US" dirty="0" smtClean="0"/>
                        <a:t>No. of</a:t>
                      </a:r>
                      <a:r>
                        <a:rPr lang="en-US" baseline="0" dirty="0" smtClean="0"/>
                        <a:t> Documents</a:t>
                      </a:r>
                      <a:endParaRPr lang="en-US" dirty="0"/>
                    </a:p>
                  </a:txBody>
                  <a:tcPr/>
                </a:tc>
                <a:tc>
                  <a:txBody>
                    <a:bodyPr/>
                    <a:lstStyle/>
                    <a:p>
                      <a:pPr algn="ctr"/>
                      <a:r>
                        <a:rPr lang="en-US" dirty="0" smtClean="0"/>
                        <a:t>87000</a:t>
                      </a:r>
                      <a:endParaRPr lang="en-US" dirty="0"/>
                    </a:p>
                  </a:txBody>
                  <a:tcPr/>
                </a:tc>
                <a:tc>
                  <a:txBody>
                    <a:bodyPr/>
                    <a:lstStyle/>
                    <a:p>
                      <a:pPr algn="ctr"/>
                      <a:r>
                        <a:rPr lang="en-US" dirty="0" smtClean="0"/>
                        <a:t>69000</a:t>
                      </a:r>
                      <a:endParaRPr lang="en-US" dirty="0"/>
                    </a:p>
                  </a:txBody>
                  <a:tcPr/>
                </a:tc>
              </a:tr>
              <a:tr h="685020">
                <a:tc>
                  <a:txBody>
                    <a:bodyPr/>
                    <a:lstStyle/>
                    <a:p>
                      <a:r>
                        <a:rPr lang="en-US" dirty="0" smtClean="0"/>
                        <a:t>No. of</a:t>
                      </a:r>
                      <a:r>
                        <a:rPr lang="en-US" baseline="0" dirty="0" smtClean="0"/>
                        <a:t> Unique Words</a:t>
                      </a:r>
                      <a:endParaRPr lang="en-US" dirty="0"/>
                    </a:p>
                  </a:txBody>
                  <a:tcPr/>
                </a:tc>
                <a:tc>
                  <a:txBody>
                    <a:bodyPr/>
                    <a:lstStyle/>
                    <a:p>
                      <a:pPr algn="ctr"/>
                      <a:r>
                        <a:rPr lang="en-US" dirty="0" smtClean="0"/>
                        <a:t>126000</a:t>
                      </a:r>
                      <a:endParaRPr lang="en-US" dirty="0"/>
                    </a:p>
                  </a:txBody>
                  <a:tcPr/>
                </a:tc>
                <a:tc>
                  <a:txBody>
                    <a:bodyPr/>
                    <a:lstStyle/>
                    <a:p>
                      <a:pPr algn="ctr"/>
                      <a:r>
                        <a:rPr lang="en-US" dirty="0" smtClean="0"/>
                        <a:t>110000</a:t>
                      </a:r>
                      <a:endParaRPr lang="en-US" dirty="0"/>
                    </a:p>
                  </a:txBody>
                  <a:tcPr/>
                </a:tc>
              </a:tr>
              <a:tr h="685020">
                <a:tc>
                  <a:txBody>
                    <a:bodyPr/>
                    <a:lstStyle/>
                    <a:p>
                      <a:r>
                        <a:rPr lang="en-US" dirty="0" smtClean="0"/>
                        <a:t>No. of Tags</a:t>
                      </a:r>
                      <a:endParaRPr lang="en-US" dirty="0"/>
                    </a:p>
                  </a:txBody>
                  <a:tcPr/>
                </a:tc>
                <a:tc>
                  <a:txBody>
                    <a:bodyPr/>
                    <a:lstStyle/>
                    <a:p>
                      <a:pPr algn="ctr"/>
                      <a:r>
                        <a:rPr lang="en-US" dirty="0" smtClean="0"/>
                        <a:t>4200</a:t>
                      </a:r>
                      <a:endParaRPr lang="en-US" dirty="0"/>
                    </a:p>
                  </a:txBody>
                  <a:tcPr/>
                </a:tc>
                <a:tc>
                  <a:txBody>
                    <a:bodyPr/>
                    <a:lstStyle/>
                    <a:p>
                      <a:pPr algn="ctr"/>
                      <a:r>
                        <a:rPr lang="en-US" dirty="0" smtClean="0"/>
                        <a:t>To be predicted</a:t>
                      </a:r>
                      <a:endParaRPr lang="en-US" dirty="0"/>
                    </a:p>
                  </a:txBody>
                  <a:tcPr/>
                </a:tc>
              </a:tr>
            </a:tbl>
          </a:graphicData>
        </a:graphic>
      </p:graphicFrame>
    </p:spTree>
    <p:extLst>
      <p:ext uri="{BB962C8B-B14F-4D97-AF65-F5344CB8AC3E}">
        <p14:creationId xmlns:p14="http://schemas.microsoft.com/office/powerpoint/2010/main" val="65349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Data Set Snapshots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00" y="1291519"/>
            <a:ext cx="5100638" cy="4680656"/>
          </a:xfrm>
          <a:prstGeom prst="rect">
            <a:avLst/>
          </a:prstGeom>
        </p:spPr>
      </p:pic>
      <p:sp>
        <p:nvSpPr>
          <p:cNvPr id="5" name="TextBox 4"/>
          <p:cNvSpPr txBox="1"/>
          <p:nvPr/>
        </p:nvSpPr>
        <p:spPr>
          <a:xfrm>
            <a:off x="1666546" y="6138535"/>
            <a:ext cx="2979026" cy="369332"/>
          </a:xfrm>
          <a:prstGeom prst="rect">
            <a:avLst/>
          </a:prstGeom>
          <a:noFill/>
        </p:spPr>
        <p:txBody>
          <a:bodyPr wrap="square" rtlCol="0">
            <a:spAutoFit/>
          </a:bodyPr>
          <a:lstStyle/>
          <a:p>
            <a:r>
              <a:rPr lang="en-US" dirty="0" smtClean="0"/>
              <a:t>Train Data Example</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6487" y="1291519"/>
            <a:ext cx="5790521" cy="4680656"/>
          </a:xfrm>
          <a:prstGeom prst="rect">
            <a:avLst/>
          </a:prstGeom>
        </p:spPr>
      </p:pic>
      <p:sp>
        <p:nvSpPr>
          <p:cNvPr id="7" name="TextBox 6"/>
          <p:cNvSpPr txBox="1"/>
          <p:nvPr/>
        </p:nvSpPr>
        <p:spPr>
          <a:xfrm>
            <a:off x="8258175" y="6138535"/>
            <a:ext cx="2255746" cy="369332"/>
          </a:xfrm>
          <a:prstGeom prst="rect">
            <a:avLst/>
          </a:prstGeom>
          <a:noFill/>
        </p:spPr>
        <p:txBody>
          <a:bodyPr wrap="none" rtlCol="0">
            <a:spAutoFit/>
          </a:bodyPr>
          <a:lstStyle/>
          <a:p>
            <a:r>
              <a:rPr lang="en-US" dirty="0" smtClean="0"/>
              <a:t>Test Data Example</a:t>
            </a:r>
            <a:endParaRPr lang="en-US" dirty="0"/>
          </a:p>
        </p:txBody>
      </p:sp>
    </p:spTree>
    <p:extLst>
      <p:ext uri="{BB962C8B-B14F-4D97-AF65-F5344CB8AC3E}">
        <p14:creationId xmlns:p14="http://schemas.microsoft.com/office/powerpoint/2010/main" val="552009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Preprocessing Techniques Used</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fontAlgn="base">
              <a:lnSpc>
                <a:spcPct val="200000"/>
              </a:lnSpc>
            </a:pPr>
            <a:r>
              <a:rPr lang="en-US" dirty="0"/>
              <a:t>Removal of HTML tags/elements from the data</a:t>
            </a:r>
          </a:p>
          <a:p>
            <a:pPr fontAlgn="base">
              <a:lnSpc>
                <a:spcPct val="200000"/>
              </a:lnSpc>
            </a:pPr>
            <a:r>
              <a:rPr lang="en-US" dirty="0"/>
              <a:t>Removal of Emoticons/ Smileys from the data</a:t>
            </a:r>
          </a:p>
          <a:p>
            <a:pPr fontAlgn="base">
              <a:lnSpc>
                <a:spcPct val="200000"/>
              </a:lnSpc>
            </a:pPr>
            <a:r>
              <a:rPr lang="en-US" dirty="0"/>
              <a:t>Removal of Digits/ Numbers from the data</a:t>
            </a:r>
          </a:p>
          <a:p>
            <a:pPr fontAlgn="base">
              <a:lnSpc>
                <a:spcPct val="200000"/>
              </a:lnSpc>
            </a:pPr>
            <a:r>
              <a:rPr lang="en-US" dirty="0"/>
              <a:t>Removal of </a:t>
            </a:r>
            <a:r>
              <a:rPr lang="en-US" dirty="0" err="1"/>
              <a:t>stopwords</a:t>
            </a:r>
            <a:r>
              <a:rPr lang="en-US" dirty="0"/>
              <a:t> from the data</a:t>
            </a:r>
          </a:p>
          <a:p>
            <a:pPr fontAlgn="base">
              <a:lnSpc>
                <a:spcPct val="200000"/>
              </a:lnSpc>
            </a:pPr>
            <a:r>
              <a:rPr lang="en-US" dirty="0"/>
              <a:t>Removal of words with short length</a:t>
            </a:r>
          </a:p>
          <a:p>
            <a:pPr fontAlgn="base">
              <a:lnSpc>
                <a:spcPct val="200000"/>
              </a:lnSpc>
            </a:pPr>
            <a:r>
              <a:rPr lang="en-US" dirty="0"/>
              <a:t>Removal of any special characters</a:t>
            </a:r>
          </a:p>
          <a:p>
            <a:endParaRPr lang="en-US" dirty="0"/>
          </a:p>
        </p:txBody>
      </p:sp>
    </p:spTree>
    <p:extLst>
      <p:ext uri="{BB962C8B-B14F-4D97-AF65-F5344CB8AC3E}">
        <p14:creationId xmlns:p14="http://schemas.microsoft.com/office/powerpoint/2010/main" val="661135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One vs Rest Classifier with Perceptron</a:t>
            </a: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dirty="0"/>
              <a:t>Each class vs all other classes</a:t>
            </a:r>
          </a:p>
          <a:p>
            <a:pPr fontAlgn="base"/>
            <a:r>
              <a:rPr lang="en-US" dirty="0"/>
              <a:t>Transformations:</a:t>
            </a:r>
          </a:p>
          <a:p>
            <a:pPr lvl="1" fontAlgn="base"/>
            <a:r>
              <a:rPr lang="en-US" dirty="0" err="1"/>
              <a:t>MultiLabelBinarizer</a:t>
            </a:r>
            <a:endParaRPr lang="en-US" sz="1400" dirty="0"/>
          </a:p>
          <a:p>
            <a:pPr lvl="1" fontAlgn="base"/>
            <a:r>
              <a:rPr lang="en-US" dirty="0" err="1"/>
              <a:t>TfidfVectorizer</a:t>
            </a:r>
            <a:endParaRPr lang="en-US" dirty="0"/>
          </a:p>
          <a:p>
            <a:pPr fontAlgn="base"/>
            <a:r>
              <a:rPr lang="en-US" dirty="0"/>
              <a:t>Different classification models:</a:t>
            </a:r>
          </a:p>
          <a:p>
            <a:pPr lvl="1" fontAlgn="base"/>
            <a:r>
              <a:rPr lang="en-US" dirty="0"/>
              <a:t>Perceptron </a:t>
            </a:r>
          </a:p>
          <a:p>
            <a:pPr lvl="1" fontAlgn="base"/>
            <a:r>
              <a:rPr lang="en-US" dirty="0"/>
              <a:t>Logistic Regression</a:t>
            </a:r>
          </a:p>
          <a:p>
            <a:pPr fontAlgn="base"/>
            <a:r>
              <a:rPr lang="en-US" dirty="0"/>
              <a:t>Parameters:</a:t>
            </a:r>
          </a:p>
          <a:p>
            <a:pPr lvl="1" fontAlgn="base"/>
            <a:r>
              <a:rPr lang="en-US" dirty="0"/>
              <a:t>penalty </a:t>
            </a:r>
          </a:p>
          <a:p>
            <a:pPr lvl="1" fontAlgn="base"/>
            <a:r>
              <a:rPr lang="en-US" dirty="0"/>
              <a:t>iterations </a:t>
            </a:r>
          </a:p>
          <a:p>
            <a:pPr lvl="1" fontAlgn="base"/>
            <a:r>
              <a:rPr lang="en-US" dirty="0"/>
              <a:t>learning rate</a:t>
            </a:r>
          </a:p>
          <a:p>
            <a:pPr lvl="1" fontAlgn="base"/>
            <a:r>
              <a:rPr lang="en-US" dirty="0"/>
              <a:t>class weights</a:t>
            </a:r>
          </a:p>
          <a:p>
            <a:endParaRPr lang="en-US" dirty="0"/>
          </a:p>
        </p:txBody>
      </p:sp>
    </p:spTree>
    <p:extLst>
      <p:ext uri="{BB962C8B-B14F-4D97-AF65-F5344CB8AC3E}">
        <p14:creationId xmlns:p14="http://schemas.microsoft.com/office/powerpoint/2010/main" val="1364902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lh4.googleusercontent.com/bmXd6hBR1bAhPlEnySl1ikIY1oNVjRgX54sFZSUmo-ns9HeKL0A3G1VJP3UV4lVMYA8EXWwW20KfXiE94Y8KWvRqmYi3MyOhgxIHhFypn0NATx45xwjg8JOmXn10MfY6LWXx_8T9oh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2" y="1042987"/>
            <a:ext cx="8784026" cy="4600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315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Binary Relevance with </a:t>
            </a:r>
            <a:r>
              <a:rPr lang="en-US" dirty="0" err="1"/>
              <a:t>SGDClassifier</a:t>
            </a:r>
            <a:endParaRPr lang="en-US" dirty="0"/>
          </a:p>
        </p:txBody>
      </p:sp>
      <p:sp>
        <p:nvSpPr>
          <p:cNvPr id="3" name="Content Placeholder 2"/>
          <p:cNvSpPr>
            <a:spLocks noGrp="1"/>
          </p:cNvSpPr>
          <p:nvPr>
            <p:ph idx="1"/>
          </p:nvPr>
        </p:nvSpPr>
        <p:spPr/>
        <p:txBody>
          <a:bodyPr/>
          <a:lstStyle/>
          <a:p>
            <a:pPr fontAlgn="base"/>
            <a:r>
              <a:rPr lang="en-US" dirty="0" err="1"/>
              <a:t>CountVectorizer</a:t>
            </a:r>
            <a:r>
              <a:rPr lang="en-US" dirty="0"/>
              <a:t> for transforming the text content to vectors </a:t>
            </a:r>
          </a:p>
          <a:p>
            <a:pPr fontAlgn="base"/>
            <a:r>
              <a:rPr lang="en-US" dirty="0" err="1"/>
              <a:t>MultiLabelBinarizer</a:t>
            </a:r>
            <a:r>
              <a:rPr lang="en-US" dirty="0"/>
              <a:t> for transforming tags into vectors, a two way transformer gives actual tags when asked with input vectors</a:t>
            </a:r>
          </a:p>
          <a:p>
            <a:pPr fontAlgn="base"/>
            <a:r>
              <a:rPr lang="en-US" dirty="0" err="1"/>
              <a:t>StochasticGradientClassifier</a:t>
            </a:r>
            <a:r>
              <a:rPr lang="en-US" dirty="0"/>
              <a:t>, classifier for learning maxima /  minima by iterations.</a:t>
            </a:r>
          </a:p>
          <a:p>
            <a:pPr fontAlgn="base"/>
            <a:r>
              <a:rPr lang="en-US" dirty="0" err="1"/>
              <a:t>BinaryRelevance</a:t>
            </a:r>
            <a:r>
              <a:rPr lang="en-US" dirty="0"/>
              <a:t>, a problem transformer, that transforms the </a:t>
            </a:r>
            <a:r>
              <a:rPr lang="en-US" dirty="0" err="1"/>
              <a:t>multilabel</a:t>
            </a:r>
            <a:r>
              <a:rPr lang="en-US" dirty="0"/>
              <a:t> classification into single label classification problem.</a:t>
            </a:r>
          </a:p>
          <a:p>
            <a:pPr fontAlgn="base"/>
            <a:r>
              <a:rPr lang="en-US" dirty="0"/>
              <a:t>Small Data accuracy score : </a:t>
            </a:r>
            <a:r>
              <a:rPr lang="en-US" dirty="0" smtClean="0"/>
              <a:t>0.5 -0.8</a:t>
            </a:r>
            <a:endParaRPr lang="en-US" dirty="0"/>
          </a:p>
          <a:p>
            <a:pPr fontAlgn="base"/>
            <a:r>
              <a:rPr lang="en-US" dirty="0"/>
              <a:t>Full Data accuracy score : </a:t>
            </a:r>
            <a:r>
              <a:rPr lang="en-US" dirty="0" smtClean="0"/>
              <a:t>0.1 </a:t>
            </a:r>
            <a:r>
              <a:rPr lang="en-US" dirty="0"/>
              <a:t>- </a:t>
            </a:r>
            <a:r>
              <a:rPr lang="en-US" dirty="0" smtClean="0"/>
              <a:t>0.2</a:t>
            </a:r>
            <a:endParaRPr lang="en-US" dirty="0"/>
          </a:p>
          <a:p>
            <a:endParaRPr lang="en-US" dirty="0"/>
          </a:p>
        </p:txBody>
      </p:sp>
    </p:spTree>
    <p:extLst>
      <p:ext uri="{BB962C8B-B14F-4D97-AF65-F5344CB8AC3E}">
        <p14:creationId xmlns:p14="http://schemas.microsoft.com/office/powerpoint/2010/main" val="1801318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lh6.googleusercontent.com/ahc7TwNxHnjU1Iub_B5jKLb6Y8FSrgECW0lGIsKQtQZhrYoKYubd6N9i2UUArJIcdzxfxGSKsb2kg8KtM6s9KxblWlkKgsGkYXYQimVqEDuh6UVRDq2BE9XFTfPAIqUZgDLBlmqxH_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1214437"/>
            <a:ext cx="7686675" cy="5037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235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Multi-Label KNN </a:t>
            </a:r>
            <a:r>
              <a:rPr lang="en-US" dirty="0" smtClean="0"/>
              <a:t>Classifier</a:t>
            </a:r>
            <a:endParaRPr lang="en-US" dirty="0"/>
          </a:p>
        </p:txBody>
      </p:sp>
      <p:sp>
        <p:nvSpPr>
          <p:cNvPr id="3" name="Content Placeholder 2"/>
          <p:cNvSpPr>
            <a:spLocks noGrp="1"/>
          </p:cNvSpPr>
          <p:nvPr>
            <p:ph idx="1"/>
          </p:nvPr>
        </p:nvSpPr>
        <p:spPr/>
        <p:txBody>
          <a:bodyPr/>
          <a:lstStyle/>
          <a:p>
            <a:r>
              <a:rPr lang="en-US" dirty="0" err="1" smtClean="0"/>
              <a:t>TfidfVectorizer</a:t>
            </a:r>
            <a:r>
              <a:rPr lang="en-US" dirty="0" smtClean="0"/>
              <a:t> to convert the text data into the CSR Matrix.</a:t>
            </a:r>
          </a:p>
          <a:p>
            <a:r>
              <a:rPr lang="en-US" dirty="0" err="1" smtClean="0"/>
              <a:t>MultiLabelBinarizer</a:t>
            </a:r>
            <a:r>
              <a:rPr lang="en-US" dirty="0" smtClean="0"/>
              <a:t> to convert the tags data into binary sparse matrix.</a:t>
            </a:r>
          </a:p>
          <a:p>
            <a:r>
              <a:rPr lang="en-US" dirty="0" smtClean="0"/>
              <a:t>Fit method takes CSR Matrix of train data and binary sparse matrix of the tag data to train the classifier.</a:t>
            </a:r>
          </a:p>
          <a:p>
            <a:r>
              <a:rPr lang="en-US" dirty="0" smtClean="0"/>
              <a:t>Predict method takes CSR Matrix of test data and predicts the tags for each document based on the K nearest neighbors.</a:t>
            </a:r>
          </a:p>
          <a:p>
            <a:r>
              <a:rPr lang="en-US" dirty="0" smtClean="0"/>
              <a:t>The </a:t>
            </a:r>
            <a:r>
              <a:rPr lang="en-US" dirty="0" err="1" smtClean="0"/>
              <a:t>ouput</a:t>
            </a:r>
            <a:r>
              <a:rPr lang="en-US" dirty="0" smtClean="0"/>
              <a:t> will be a sparse binary matrix that is converted to dense matrix and then label are fetched against each true value.</a:t>
            </a:r>
          </a:p>
          <a:p>
            <a:r>
              <a:rPr lang="en-US" dirty="0" smtClean="0"/>
              <a:t>Accuracy comes out to be 0.4-0.6 on small data and 0.08-0.09 on full data</a:t>
            </a:r>
            <a:endParaRPr lang="en-US" dirty="0"/>
          </a:p>
        </p:txBody>
      </p:sp>
    </p:spTree>
    <p:extLst>
      <p:ext uri="{BB962C8B-B14F-4D97-AF65-F5344CB8AC3E}">
        <p14:creationId xmlns:p14="http://schemas.microsoft.com/office/powerpoint/2010/main" val="314981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313" y="1159533"/>
            <a:ext cx="8758238" cy="5453242"/>
          </a:xfrm>
          <a:prstGeom prst="rect">
            <a:avLst/>
          </a:prstGeom>
        </p:spPr>
      </p:pic>
    </p:spTree>
    <p:extLst>
      <p:ext uri="{BB962C8B-B14F-4D97-AF65-F5344CB8AC3E}">
        <p14:creationId xmlns:p14="http://schemas.microsoft.com/office/powerpoint/2010/main" val="1040164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Comparison Of Results</a:t>
            </a:r>
            <a:endParaRPr lang="en-US" dirty="0"/>
          </a:p>
        </p:txBody>
      </p:sp>
      <p:sp>
        <p:nvSpPr>
          <p:cNvPr id="3" name="Content Placeholder 2"/>
          <p:cNvSpPr>
            <a:spLocks noGrp="1"/>
          </p:cNvSpPr>
          <p:nvPr>
            <p:ph idx="1"/>
          </p:nvPr>
        </p:nvSpPr>
        <p:spPr/>
        <p:txBody>
          <a:bodyPr/>
          <a:lstStyle/>
          <a:p>
            <a:pPr marL="0" indent="0" fontAlgn="base">
              <a:buNone/>
            </a:pPr>
            <a:r>
              <a:rPr lang="en-US" b="1" dirty="0" smtClean="0"/>
              <a:t>Classification methods arranged based on the accuracy score:-</a:t>
            </a:r>
          </a:p>
          <a:p>
            <a:pPr marL="0" indent="0" fontAlgn="base">
              <a:buNone/>
            </a:pPr>
            <a:r>
              <a:rPr lang="en-US" b="1" dirty="0" smtClean="0"/>
              <a:t>1. One </a:t>
            </a:r>
            <a:r>
              <a:rPr lang="en-US" b="1" dirty="0"/>
              <a:t>vs Rest Classifier with Perceptron </a:t>
            </a:r>
          </a:p>
          <a:p>
            <a:pPr marL="0" indent="0" fontAlgn="base">
              <a:buNone/>
            </a:pPr>
            <a:r>
              <a:rPr lang="en-US" b="1" dirty="0" smtClean="0"/>
              <a:t>2. Binary </a:t>
            </a:r>
            <a:r>
              <a:rPr lang="en-US" b="1" dirty="0"/>
              <a:t>Relevance problem transformer with Stochastic Gradient Descent Classifier </a:t>
            </a:r>
          </a:p>
          <a:p>
            <a:pPr marL="0" indent="0" fontAlgn="base">
              <a:buNone/>
            </a:pPr>
            <a:r>
              <a:rPr lang="en-US" b="1" dirty="0" smtClean="0"/>
              <a:t>3. Multi-Label </a:t>
            </a:r>
            <a:r>
              <a:rPr lang="en-US" b="1" dirty="0"/>
              <a:t>KNN Classifier</a:t>
            </a:r>
          </a:p>
          <a:p>
            <a:pPr marL="0" indent="0" fontAlgn="base">
              <a:buNone/>
            </a:pPr>
            <a:r>
              <a:rPr lang="en-US" dirty="0"/>
              <a:t/>
            </a:r>
            <a:br>
              <a:rPr lang="en-US" dirty="0"/>
            </a:br>
            <a:r>
              <a:rPr lang="en-US" b="1" dirty="0" smtClean="0"/>
              <a:t>Difference in </a:t>
            </a:r>
            <a:r>
              <a:rPr lang="en-US" b="1" dirty="0" err="1" smtClean="0"/>
              <a:t>preprocession</a:t>
            </a:r>
            <a:r>
              <a:rPr lang="en-US" b="1" dirty="0" smtClean="0"/>
              <a:t> techniques used :-</a:t>
            </a:r>
            <a:endParaRPr lang="en-US" b="1" dirty="0"/>
          </a:p>
          <a:p>
            <a:pPr marL="0" indent="0" fontAlgn="base">
              <a:buNone/>
            </a:pPr>
            <a:r>
              <a:rPr lang="en-US" b="1" dirty="0" smtClean="0"/>
              <a:t>1. </a:t>
            </a:r>
            <a:r>
              <a:rPr lang="en-US" b="1" dirty="0" err="1" smtClean="0"/>
              <a:t>TfidfVecotrizer</a:t>
            </a:r>
            <a:r>
              <a:rPr lang="en-US" b="1" dirty="0" smtClean="0"/>
              <a:t> </a:t>
            </a:r>
            <a:r>
              <a:rPr lang="en-US" b="1" dirty="0" err="1"/>
              <a:t>CountVectorizer</a:t>
            </a:r>
            <a:endParaRPr lang="en-US" b="1" dirty="0"/>
          </a:p>
          <a:p>
            <a:pPr marL="0" indent="0" fontAlgn="base">
              <a:buNone/>
            </a:pPr>
            <a:r>
              <a:rPr lang="en-US" b="1" dirty="0" smtClean="0"/>
              <a:t>2. Varied </a:t>
            </a:r>
            <a:r>
              <a:rPr lang="en-US" b="1" dirty="0"/>
              <a:t>classification </a:t>
            </a:r>
            <a:r>
              <a:rPr lang="en-US" b="1" dirty="0" smtClean="0"/>
              <a:t>results</a:t>
            </a:r>
          </a:p>
          <a:p>
            <a:pPr marL="0" indent="0" fontAlgn="base">
              <a:buNone/>
            </a:pPr>
            <a:r>
              <a:rPr lang="en-US" b="1" dirty="0" smtClean="0"/>
              <a:t>3. </a:t>
            </a:r>
            <a:r>
              <a:rPr lang="en-US" b="1" dirty="0" err="1" smtClean="0"/>
              <a:t>MultiLabel</a:t>
            </a:r>
            <a:r>
              <a:rPr lang="en-US" b="1" dirty="0" smtClean="0"/>
              <a:t> </a:t>
            </a:r>
            <a:r>
              <a:rPr lang="en-US" b="1" dirty="0" err="1" smtClean="0"/>
              <a:t>Binarizer</a:t>
            </a:r>
            <a:endParaRPr lang="en-US" b="1" dirty="0"/>
          </a:p>
          <a:p>
            <a:pPr marL="0" indent="0">
              <a:buNone/>
            </a:pPr>
            <a:endParaRPr lang="en-US" dirty="0"/>
          </a:p>
        </p:txBody>
      </p:sp>
    </p:spTree>
    <p:extLst>
      <p:ext uri="{BB962C8B-B14F-4D97-AF65-F5344CB8AC3E}">
        <p14:creationId xmlns:p14="http://schemas.microsoft.com/office/powerpoint/2010/main" val="149486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References</a:t>
            </a:r>
            <a:endParaRPr lang="en-US" dirty="0"/>
          </a:p>
        </p:txBody>
      </p:sp>
      <p:sp>
        <p:nvSpPr>
          <p:cNvPr id="3" name="Content Placeholder 2"/>
          <p:cNvSpPr>
            <a:spLocks noGrp="1"/>
          </p:cNvSpPr>
          <p:nvPr>
            <p:ph idx="1"/>
          </p:nvPr>
        </p:nvSpPr>
        <p:spPr/>
        <p:txBody>
          <a:bodyPr/>
          <a:lstStyle/>
          <a:p>
            <a:r>
              <a:rPr lang="en-US" dirty="0" err="1"/>
              <a:t>Kaggle</a:t>
            </a:r>
            <a:r>
              <a:rPr lang="en-US" dirty="0"/>
              <a:t> Problem - </a:t>
            </a:r>
            <a:r>
              <a:rPr lang="en-US" dirty="0">
                <a:hlinkClick r:id="rId2"/>
              </a:rPr>
              <a:t>https://</a:t>
            </a:r>
            <a:r>
              <a:rPr lang="en-US" dirty="0" smtClean="0">
                <a:hlinkClick r:id="rId2"/>
              </a:rPr>
              <a:t>www.kaggle.com/c/transfer-learning-on-stack-exchange-tags</a:t>
            </a:r>
            <a:endParaRPr lang="en-US" dirty="0" smtClean="0"/>
          </a:p>
          <a:p>
            <a:endParaRPr lang="en-US" dirty="0"/>
          </a:p>
        </p:txBody>
      </p:sp>
    </p:spTree>
    <p:extLst>
      <p:ext uri="{BB962C8B-B14F-4D97-AF65-F5344CB8AC3E}">
        <p14:creationId xmlns:p14="http://schemas.microsoft.com/office/powerpoint/2010/main" val="17493693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59</TotalTime>
  <Words>417</Words>
  <Application>Microsoft Macintosh PowerPoint</Application>
  <PresentationFormat>Widescreen</PresentationFormat>
  <Paragraphs>68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Century Gothic</vt:lpstr>
      <vt:lpstr>Mangal</vt:lpstr>
      <vt:lpstr>Wingdings 3</vt:lpstr>
      <vt:lpstr>Arial</vt:lpstr>
      <vt:lpstr>Ion</vt:lpstr>
      <vt:lpstr>Prediction of tags for Stack Exchange Questions</vt:lpstr>
      <vt:lpstr>Problem Statement</vt:lpstr>
      <vt:lpstr>Data Size</vt:lpstr>
      <vt:lpstr>Data Set Snapshots</vt:lpstr>
      <vt:lpstr>Preprocessing Techniques Used  </vt:lpstr>
      <vt:lpstr>One vs Rest Classifier with Perceptron</vt:lpstr>
      <vt:lpstr>PowerPoint Presentation</vt:lpstr>
      <vt:lpstr>Binary Relevance with SGDClassifier</vt:lpstr>
      <vt:lpstr>PowerPoint Presentation</vt:lpstr>
      <vt:lpstr>Multi-Label KNN Classifier</vt:lpstr>
      <vt:lpstr>PowerPoint Presentation</vt:lpstr>
      <vt:lpstr>Comparison Of Results</vt:lpstr>
      <vt:lpstr>References</vt:lpstr>
    </vt:vector>
  </TitlesOfParts>
  <Company/>
  <LinksUpToDate>false</LinksUpToDate>
  <SharedDoc>false</SharedDoc>
  <HyperlinksChanged>false</HyperlinksChanged>
  <AppVersion>15.0029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of tags for Stack Exchange Questions</dc:title>
  <dc:creator>NAVNEET JAIN</dc:creator>
  <cp:lastModifiedBy>NAVNEET JAIN</cp:lastModifiedBy>
  <cp:revision>7</cp:revision>
  <dcterms:created xsi:type="dcterms:W3CDTF">2017-05-10T05:31:43Z</dcterms:created>
  <dcterms:modified xsi:type="dcterms:W3CDTF">2017-05-10T06:30:58Z</dcterms:modified>
</cp:coreProperties>
</file>